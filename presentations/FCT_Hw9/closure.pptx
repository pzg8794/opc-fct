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20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Regular Languages are closed under the regular operations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Regular Languages</a:t>
            </a:r>
            <a:endParaRPr lang="el-GR" smtClean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The regular languages are the languages that DFA accept.</a:t>
            </a:r>
          </a:p>
          <a:p>
            <a:pPr eaLnBrk="1" hangingPunct="1"/>
            <a:r>
              <a:rPr lang="en-US" dirty="0" smtClean="0"/>
              <a:t>Since DFA are equivalent with NFA</a:t>
            </a:r>
            <a:r>
              <a:rPr lang="el-GR" sz="2800" dirty="0" smtClean="0"/>
              <a:t>ε</a:t>
            </a:r>
            <a:r>
              <a:rPr lang="en-US" dirty="0" smtClean="0"/>
              <a:t>, in order to show that L is regular it suffices to construct an NFA</a:t>
            </a:r>
            <a:r>
              <a:rPr lang="el-GR" sz="2800" dirty="0" smtClean="0"/>
              <a:t>ε</a:t>
            </a:r>
            <a:r>
              <a:rPr lang="el-GR" dirty="0" smtClean="0"/>
              <a:t> </a:t>
            </a:r>
            <a:r>
              <a:rPr lang="en-US" dirty="0" smtClean="0"/>
              <a:t>that recognizes L.</a:t>
            </a:r>
            <a:endParaRPr lang="el-GR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Regular Operations</a:t>
            </a:r>
            <a:endParaRPr lang="el-GR" smtClean="0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 dirty="0" smtClean="0"/>
              <a:t>The regular operations are the following:</a:t>
            </a:r>
          </a:p>
          <a:p>
            <a:pPr eaLnBrk="1" hangingPunct="1"/>
            <a:r>
              <a:rPr lang="en-US" dirty="0" smtClean="0"/>
              <a:t>Union (U)</a:t>
            </a:r>
          </a:p>
          <a:p>
            <a:pPr eaLnBrk="1" hangingPunct="1"/>
            <a:r>
              <a:rPr lang="en-US" dirty="0" smtClean="0"/>
              <a:t>Concatenation (</a:t>
            </a:r>
            <a:r>
              <a:rPr lang="en-US" sz="2800" baseline="30000" dirty="0" smtClean="0"/>
              <a:t>o</a:t>
            </a:r>
            <a:r>
              <a:rPr lang="en-US" dirty="0" smtClean="0"/>
              <a:t>)</a:t>
            </a:r>
          </a:p>
          <a:p>
            <a:pPr eaLnBrk="1" hangingPunct="1"/>
            <a:r>
              <a:rPr lang="en-US" dirty="0" smtClean="0"/>
              <a:t>Star </a:t>
            </a:r>
            <a:r>
              <a:rPr lang="en-US" dirty="0" smtClean="0"/>
              <a:t>(</a:t>
            </a:r>
            <a:r>
              <a:rPr lang="en-US" baseline="30000" dirty="0" smtClean="0"/>
              <a:t>*</a:t>
            </a:r>
            <a:r>
              <a:rPr lang="en-US" dirty="0" smtClean="0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Regular Languages are closed under the Regular Operations</a:t>
            </a:r>
            <a:endParaRPr lang="el-GR" dirty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We already showed that the class of regular languages is closed under U.</a:t>
            </a:r>
          </a:p>
          <a:p>
            <a:pPr eaLnBrk="1" hangingPunct="1"/>
            <a:r>
              <a:rPr lang="en-US" dirty="0" smtClean="0"/>
              <a:t>This proof becomes much easier is we use NFA</a:t>
            </a:r>
            <a:r>
              <a:rPr lang="el-GR" sz="2800" dirty="0" smtClean="0"/>
              <a:t>ε</a:t>
            </a:r>
            <a:r>
              <a:rPr lang="en-US" dirty="0" smtClean="0"/>
              <a:t> </a:t>
            </a:r>
            <a:r>
              <a:rPr lang="en-US" dirty="0" smtClean="0"/>
              <a:t>instead </a:t>
            </a:r>
            <a:r>
              <a:rPr lang="en-US" dirty="0" smtClean="0"/>
              <a:t>of DFA. </a:t>
            </a:r>
            <a:endParaRPr lang="el-GR" dirty="0" smtClean="0"/>
          </a:p>
          <a:p>
            <a:pPr eaLnBrk="1" hangingPunct="1"/>
            <a:r>
              <a:rPr lang="en-US" dirty="0" smtClean="0"/>
              <a:t>We can also show that the set of regular languages is closed under </a:t>
            </a:r>
            <a:r>
              <a:rPr lang="en-US" baseline="30000" dirty="0" smtClean="0"/>
              <a:t>o</a:t>
            </a:r>
            <a:r>
              <a:rPr lang="en-US" dirty="0" smtClean="0"/>
              <a:t> and </a:t>
            </a:r>
            <a:r>
              <a:rPr lang="en-US" baseline="30000" dirty="0" smtClean="0"/>
              <a:t>*</a:t>
            </a:r>
            <a:r>
              <a:rPr lang="en-US" dirty="0" smtClean="0"/>
              <a:t>.</a:t>
            </a:r>
            <a:endParaRPr lang="el-GR" baseline="30000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Regular Languages are closed under union.</a:t>
            </a:r>
            <a:endParaRPr lang="el-GR" dirty="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We should prove that if L</a:t>
            </a:r>
            <a:r>
              <a:rPr lang="en-US" baseline="-25000" dirty="0" smtClean="0"/>
              <a:t>1</a:t>
            </a:r>
            <a:r>
              <a:rPr lang="en-US" dirty="0" smtClean="0"/>
              <a:t> and L</a:t>
            </a:r>
            <a:r>
              <a:rPr lang="en-US" baseline="-25000" dirty="0" smtClean="0"/>
              <a:t>2</a:t>
            </a:r>
            <a:r>
              <a:rPr lang="en-US" dirty="0" smtClean="0"/>
              <a:t> are regular then L = L</a:t>
            </a:r>
            <a:r>
              <a:rPr lang="en-US" baseline="-25000" dirty="0" smtClean="0"/>
              <a:t>1 </a:t>
            </a:r>
            <a:r>
              <a:rPr lang="en-US" dirty="0" smtClean="0"/>
              <a:t>U</a:t>
            </a:r>
            <a:r>
              <a:rPr lang="en-US" baseline="-25000" dirty="0" smtClean="0"/>
              <a:t> </a:t>
            </a:r>
            <a:r>
              <a:rPr lang="en-US" dirty="0" smtClean="0"/>
              <a:t>L</a:t>
            </a:r>
            <a:r>
              <a:rPr lang="en-US" baseline="-25000" dirty="0" smtClean="0"/>
              <a:t>2</a:t>
            </a:r>
            <a:r>
              <a:rPr lang="en-US" dirty="0" smtClean="0"/>
              <a:t> is also regular.</a:t>
            </a:r>
          </a:p>
          <a:p>
            <a:pPr eaLnBrk="1" hangingPunct="1"/>
            <a:r>
              <a:rPr lang="en-US" dirty="0" smtClean="0"/>
              <a:t>Since L</a:t>
            </a:r>
            <a:r>
              <a:rPr lang="en-US" baseline="-25000" dirty="0" smtClean="0"/>
              <a:t>1</a:t>
            </a:r>
            <a:r>
              <a:rPr lang="en-US" dirty="0" smtClean="0"/>
              <a:t> and L</a:t>
            </a:r>
            <a:r>
              <a:rPr lang="en-US" baseline="-25000" dirty="0" smtClean="0"/>
              <a:t>2</a:t>
            </a:r>
            <a:r>
              <a:rPr lang="en-US" dirty="0" smtClean="0"/>
              <a:t> are regular there exist DFAs M</a:t>
            </a:r>
            <a:r>
              <a:rPr lang="en-US" baseline="-25000" dirty="0" smtClean="0"/>
              <a:t>1</a:t>
            </a:r>
            <a:r>
              <a:rPr lang="en-US" dirty="0" smtClean="0"/>
              <a:t> and M</a:t>
            </a:r>
            <a:r>
              <a:rPr lang="en-US" baseline="-25000" dirty="0" smtClean="0"/>
              <a:t>2</a:t>
            </a:r>
            <a:r>
              <a:rPr lang="en-US" dirty="0" smtClean="0"/>
              <a:t> that accept them.</a:t>
            </a:r>
          </a:p>
          <a:p>
            <a:pPr eaLnBrk="1" hangingPunct="1"/>
            <a:r>
              <a:rPr lang="en-US" dirty="0" smtClean="0"/>
              <a:t>It suffices to show that there exists an NFA</a:t>
            </a:r>
            <a:r>
              <a:rPr lang="el-GR" sz="2800" dirty="0" smtClean="0"/>
              <a:t>ε</a:t>
            </a:r>
            <a:r>
              <a:rPr lang="en-US" dirty="0" smtClean="0"/>
              <a:t> that accepts L.</a:t>
            </a:r>
            <a:endParaRPr lang="el-GR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An NFA</a:t>
            </a:r>
            <a:r>
              <a:rPr lang="el-GR" baseline="-25000" dirty="0" smtClean="0"/>
              <a:t>ε</a:t>
            </a:r>
            <a:r>
              <a:rPr lang="en-US" dirty="0" smtClean="0"/>
              <a:t> that</a:t>
            </a:r>
            <a:r>
              <a:rPr lang="el-GR" dirty="0" smtClean="0"/>
              <a:t> </a:t>
            </a:r>
            <a:r>
              <a:rPr lang="en-US" dirty="0" smtClean="0"/>
              <a:t>accepts L</a:t>
            </a:r>
            <a:r>
              <a:rPr lang="en-US" baseline="-25000" dirty="0" smtClean="0"/>
              <a:t>1</a:t>
            </a:r>
            <a:r>
              <a:rPr lang="en-US" dirty="0" smtClean="0"/>
              <a:t> U L</a:t>
            </a:r>
            <a:r>
              <a:rPr lang="en-US" baseline="-25000" dirty="0" smtClean="0"/>
              <a:t>2</a:t>
            </a:r>
            <a:r>
              <a:rPr lang="en-US" dirty="0" smtClean="0"/>
              <a:t> </a:t>
            </a:r>
            <a:endParaRPr lang="el-GR" dirty="0" smtClean="0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 smtClean="0"/>
              <a:t>Suppose M</a:t>
            </a:r>
            <a:r>
              <a:rPr lang="en-US" baseline="-25000" smtClean="0"/>
              <a:t>1</a:t>
            </a:r>
            <a:r>
              <a:rPr lang="en-US" smtClean="0"/>
              <a:t> and M</a:t>
            </a:r>
            <a:r>
              <a:rPr lang="en-US" baseline="-25000" smtClean="0"/>
              <a:t>2</a:t>
            </a:r>
            <a:r>
              <a:rPr lang="en-US" smtClean="0"/>
              <a:t> are shown in the first figure. Add an new start state and </a:t>
            </a:r>
            <a:r>
              <a:rPr lang="el-GR" smtClean="0"/>
              <a:t>ε-</a:t>
            </a:r>
            <a:r>
              <a:rPr lang="en-US" smtClean="0"/>
              <a:t>moves from this to the initial start states of M</a:t>
            </a:r>
            <a:r>
              <a:rPr lang="en-US" baseline="-25000" smtClean="0"/>
              <a:t>1</a:t>
            </a:r>
            <a:r>
              <a:rPr lang="en-US" smtClean="0"/>
              <a:t> and M</a:t>
            </a:r>
            <a:r>
              <a:rPr lang="en-US" baseline="-25000" smtClean="0"/>
              <a:t>2</a:t>
            </a:r>
            <a:endParaRPr lang="el-GR" smtClean="0"/>
          </a:p>
        </p:txBody>
      </p:sp>
      <p:grpSp>
        <p:nvGrpSpPr>
          <p:cNvPr id="2" name="Group 70"/>
          <p:cNvGrpSpPr>
            <a:grpSpLocks/>
          </p:cNvGrpSpPr>
          <p:nvPr/>
        </p:nvGrpSpPr>
        <p:grpSpPr bwMode="auto">
          <a:xfrm>
            <a:off x="142875" y="3276600"/>
            <a:ext cx="8715375" cy="3509963"/>
            <a:chOff x="142844" y="2571744"/>
            <a:chExt cx="8715436" cy="3509986"/>
          </a:xfrm>
        </p:grpSpPr>
        <p:sp>
          <p:nvSpPr>
            <p:cNvPr id="8" name="Oval 7"/>
            <p:cNvSpPr/>
            <p:nvPr/>
          </p:nvSpPr>
          <p:spPr>
            <a:xfrm>
              <a:off x="1500167" y="4652971"/>
              <a:ext cx="633416" cy="633416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1571604" y="4724408"/>
              <a:ext cx="500067" cy="500066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500035" y="3071810"/>
              <a:ext cx="500065" cy="500065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500035" y="4938723"/>
              <a:ext cx="500065" cy="500065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1928795" y="5367350"/>
              <a:ext cx="500065" cy="500065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2285984" y="4724408"/>
              <a:ext cx="500067" cy="500066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12" name="Oval 11"/>
            <p:cNvSpPr/>
            <p:nvPr/>
          </p:nvSpPr>
          <p:spPr>
            <a:xfrm>
              <a:off x="2714612" y="5510226"/>
              <a:ext cx="500067" cy="500065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2643175" y="5438788"/>
              <a:ext cx="633416" cy="633417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42844" y="3286124"/>
              <a:ext cx="28575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214283" y="5153036"/>
              <a:ext cx="28575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/>
            <p:cNvSpPr/>
            <p:nvPr/>
          </p:nvSpPr>
          <p:spPr>
            <a:xfrm>
              <a:off x="1714480" y="2571744"/>
              <a:ext cx="500067" cy="500066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2000232" y="3286124"/>
              <a:ext cx="500067" cy="500066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22" name="Oval 21"/>
            <p:cNvSpPr/>
            <p:nvPr/>
          </p:nvSpPr>
          <p:spPr>
            <a:xfrm>
              <a:off x="2724137" y="3500438"/>
              <a:ext cx="500067" cy="500065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23" name="Oval 22"/>
            <p:cNvSpPr/>
            <p:nvPr/>
          </p:nvSpPr>
          <p:spPr>
            <a:xfrm>
              <a:off x="2652700" y="3429000"/>
              <a:ext cx="633416" cy="633417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27" name="Oval 26"/>
            <p:cNvSpPr/>
            <p:nvPr/>
          </p:nvSpPr>
          <p:spPr>
            <a:xfrm>
              <a:off x="7072331" y="4662496"/>
              <a:ext cx="633416" cy="633416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28" name="Oval 27"/>
            <p:cNvSpPr/>
            <p:nvPr/>
          </p:nvSpPr>
          <p:spPr>
            <a:xfrm>
              <a:off x="7143768" y="4733933"/>
              <a:ext cx="500067" cy="500066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29" name="Oval 28"/>
            <p:cNvSpPr/>
            <p:nvPr/>
          </p:nvSpPr>
          <p:spPr>
            <a:xfrm>
              <a:off x="6072199" y="3081335"/>
              <a:ext cx="500065" cy="500065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30" name="Oval 29"/>
            <p:cNvSpPr/>
            <p:nvPr/>
          </p:nvSpPr>
          <p:spPr>
            <a:xfrm>
              <a:off x="6072199" y="4948248"/>
              <a:ext cx="500065" cy="500065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31" name="Oval 30"/>
            <p:cNvSpPr/>
            <p:nvPr/>
          </p:nvSpPr>
          <p:spPr>
            <a:xfrm>
              <a:off x="7500959" y="5376875"/>
              <a:ext cx="500065" cy="500065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32" name="Oval 31"/>
            <p:cNvSpPr/>
            <p:nvPr/>
          </p:nvSpPr>
          <p:spPr>
            <a:xfrm>
              <a:off x="7858148" y="4733933"/>
              <a:ext cx="500067" cy="500066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33" name="Oval 32"/>
            <p:cNvSpPr/>
            <p:nvPr/>
          </p:nvSpPr>
          <p:spPr>
            <a:xfrm>
              <a:off x="8286776" y="5519751"/>
              <a:ext cx="500067" cy="500065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34" name="Oval 33"/>
            <p:cNvSpPr/>
            <p:nvPr/>
          </p:nvSpPr>
          <p:spPr>
            <a:xfrm>
              <a:off x="8215339" y="5448313"/>
              <a:ext cx="633416" cy="633417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cxnSp>
          <p:nvCxnSpPr>
            <p:cNvPr id="35" name="Straight Arrow Connector 34"/>
            <p:cNvCxnSpPr>
              <a:stCxn id="41" idx="7"/>
              <a:endCxn id="50" idx="2"/>
            </p:cNvCxnSpPr>
            <p:nvPr/>
          </p:nvCxnSpPr>
          <p:spPr>
            <a:xfrm rot="5400000" flipH="1" flipV="1">
              <a:off x="5381631" y="3444875"/>
              <a:ext cx="746130" cy="511179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41" idx="5"/>
              <a:endCxn id="30" idx="2"/>
            </p:cNvCxnSpPr>
            <p:nvPr/>
          </p:nvCxnSpPr>
          <p:spPr>
            <a:xfrm rot="16200000" flipH="1">
              <a:off x="5400681" y="4525970"/>
              <a:ext cx="769942" cy="573092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7286644" y="2581269"/>
              <a:ext cx="500067" cy="500066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38" name="Oval 37"/>
            <p:cNvSpPr/>
            <p:nvPr/>
          </p:nvSpPr>
          <p:spPr>
            <a:xfrm>
              <a:off x="7572396" y="3295649"/>
              <a:ext cx="500067" cy="500066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39" name="Oval 38"/>
            <p:cNvSpPr/>
            <p:nvPr/>
          </p:nvSpPr>
          <p:spPr>
            <a:xfrm>
              <a:off x="8296301" y="3509963"/>
              <a:ext cx="500067" cy="500065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40" name="Oval 39"/>
            <p:cNvSpPr/>
            <p:nvPr/>
          </p:nvSpPr>
          <p:spPr>
            <a:xfrm>
              <a:off x="8224864" y="3438525"/>
              <a:ext cx="633416" cy="633417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41" name="Oval 40"/>
            <p:cNvSpPr/>
            <p:nvPr/>
          </p:nvSpPr>
          <p:spPr>
            <a:xfrm>
              <a:off x="5072067" y="4000503"/>
              <a:ext cx="500065" cy="500066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>
              <a:off x="4786315" y="4214818"/>
              <a:ext cx="285752" cy="1587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5495931" y="4559307"/>
              <a:ext cx="290515" cy="36989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l-GR" dirty="0">
                  <a:solidFill>
                    <a:schemeClr val="accent2">
                      <a:lumMod val="75000"/>
                    </a:schemeClr>
                  </a:solidFill>
                  <a:latin typeface="+mn-lt"/>
                </a:rPr>
                <a:t>ε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500695" y="3487738"/>
              <a:ext cx="290514" cy="36988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l-GR" dirty="0">
                  <a:solidFill>
                    <a:schemeClr val="accent2">
                      <a:lumMod val="75000"/>
                    </a:schemeClr>
                  </a:solidFill>
                  <a:latin typeface="+mn-lt"/>
                </a:rPr>
                <a:t>ε</a:t>
              </a:r>
            </a:p>
          </p:txBody>
        </p:sp>
        <p:sp>
          <p:nvSpPr>
            <p:cNvPr id="49" name="Oval 48"/>
            <p:cNvSpPr/>
            <p:nvPr/>
          </p:nvSpPr>
          <p:spPr>
            <a:xfrm>
              <a:off x="428596" y="3000372"/>
              <a:ext cx="633417" cy="633417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50" name="Oval 49"/>
            <p:cNvSpPr/>
            <p:nvPr/>
          </p:nvSpPr>
          <p:spPr>
            <a:xfrm>
              <a:off x="6010285" y="3009897"/>
              <a:ext cx="633417" cy="633417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cxnSp>
          <p:nvCxnSpPr>
            <p:cNvPr id="53" name="Straight Arrow Connector 52"/>
            <p:cNvCxnSpPr/>
            <p:nvPr/>
          </p:nvCxnSpPr>
          <p:spPr>
            <a:xfrm rot="5400000" flipH="1" flipV="1">
              <a:off x="1206478" y="2539994"/>
              <a:ext cx="271464" cy="7445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hape 54"/>
            <p:cNvCxnSpPr/>
            <p:nvPr/>
          </p:nvCxnSpPr>
          <p:spPr>
            <a:xfrm>
              <a:off x="2214547" y="2776533"/>
              <a:ext cx="754067" cy="608016"/>
            </a:xfrm>
            <a:prstGeom prst="curved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 rot="16200000" flipV="1">
              <a:off x="2035951" y="3036091"/>
              <a:ext cx="214313" cy="28575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/>
            <p:nvPr/>
          </p:nvCxnSpPr>
          <p:spPr>
            <a:xfrm rot="16200000" flipH="1">
              <a:off x="2219309" y="4970473"/>
              <a:ext cx="338139" cy="69374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rot="16200000" flipV="1">
              <a:off x="2692387" y="5126049"/>
              <a:ext cx="288927" cy="24765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1000100" y="5143511"/>
              <a:ext cx="1001720" cy="25241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 rot="5400000" flipH="1" flipV="1">
              <a:off x="6737366" y="2549519"/>
              <a:ext cx="271464" cy="7445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hape 65"/>
            <p:cNvCxnSpPr/>
            <p:nvPr/>
          </p:nvCxnSpPr>
          <p:spPr>
            <a:xfrm>
              <a:off x="7818461" y="2786058"/>
              <a:ext cx="754067" cy="608016"/>
            </a:xfrm>
            <a:prstGeom prst="curved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 rot="16200000" flipV="1">
              <a:off x="7603353" y="3036091"/>
              <a:ext cx="214313" cy="28575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 rot="16200000" flipH="1">
              <a:off x="7822430" y="4979204"/>
              <a:ext cx="338139" cy="69533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 rot="16200000" flipV="1">
              <a:off x="8295507" y="5134780"/>
              <a:ext cx="287340" cy="24765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>
              <a:off x="6604014" y="5153036"/>
              <a:ext cx="1001720" cy="25241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Regular Languages are closed under concatenation</a:t>
            </a:r>
            <a:endParaRPr lang="el-GR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Suppose that L</a:t>
            </a:r>
            <a:r>
              <a:rPr lang="en-US" baseline="-25000" dirty="0" smtClean="0"/>
              <a:t>1</a:t>
            </a:r>
            <a:r>
              <a:rPr lang="en-US" dirty="0" smtClean="0"/>
              <a:t> and L</a:t>
            </a:r>
            <a:r>
              <a:rPr lang="en-US" baseline="-25000" dirty="0" smtClean="0"/>
              <a:t>2 </a:t>
            </a:r>
            <a:r>
              <a:rPr lang="en-US" dirty="0" smtClean="0"/>
              <a:t>are two regular languages. Then there exist two DFA M</a:t>
            </a:r>
            <a:r>
              <a:rPr lang="en-US" baseline="-25000" dirty="0" smtClean="0"/>
              <a:t>1</a:t>
            </a:r>
            <a:r>
              <a:rPr lang="en-US" dirty="0" smtClean="0"/>
              <a:t> and M</a:t>
            </a:r>
            <a:r>
              <a:rPr lang="en-US" baseline="-25000" dirty="0" smtClean="0"/>
              <a:t>2</a:t>
            </a:r>
            <a:r>
              <a:rPr lang="en-US" dirty="0" smtClean="0"/>
              <a:t> that recognize  L</a:t>
            </a:r>
            <a:r>
              <a:rPr lang="en-US" baseline="-25000" dirty="0" smtClean="0"/>
              <a:t>1</a:t>
            </a:r>
            <a:r>
              <a:rPr lang="en-US" dirty="0" smtClean="0"/>
              <a:t> and L</a:t>
            </a:r>
            <a:r>
              <a:rPr lang="en-US" baseline="-25000" dirty="0" smtClean="0"/>
              <a:t>2</a:t>
            </a:r>
            <a:r>
              <a:rPr lang="en-US" dirty="0" smtClean="0"/>
              <a:t>.</a:t>
            </a:r>
          </a:p>
          <a:p>
            <a:pPr eaLnBrk="1" hangingPunct="1"/>
            <a:r>
              <a:rPr lang="en-US" dirty="0" smtClean="0"/>
              <a:t>We construct an NFA</a:t>
            </a:r>
            <a:r>
              <a:rPr lang="el-GR" baseline="-25000" dirty="0" smtClean="0"/>
              <a:t>ε</a:t>
            </a:r>
            <a:r>
              <a:rPr lang="el-GR" dirty="0" smtClean="0"/>
              <a:t> </a:t>
            </a:r>
            <a:r>
              <a:rPr lang="en-US" dirty="0" smtClean="0"/>
              <a:t>that accepts their concatenation L.</a:t>
            </a:r>
            <a:endParaRPr lang="en-US" baseline="-25000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 NFA</a:t>
            </a:r>
            <a:r>
              <a:rPr lang="el-GR" baseline="-25000" smtClean="0"/>
              <a:t>ε</a:t>
            </a:r>
            <a:r>
              <a:rPr lang="en-US" smtClean="0"/>
              <a:t> that</a:t>
            </a:r>
            <a:r>
              <a:rPr lang="el-GR" smtClean="0"/>
              <a:t> </a:t>
            </a:r>
            <a:r>
              <a:rPr lang="en-US" smtClean="0"/>
              <a:t>accepts L</a:t>
            </a:r>
            <a:r>
              <a:rPr lang="en-US" baseline="-25000" smtClean="0"/>
              <a:t>1</a:t>
            </a:r>
            <a:r>
              <a:rPr lang="en-US" smtClean="0"/>
              <a:t> </a:t>
            </a:r>
            <a:r>
              <a:rPr lang="en-US" sz="3000" smtClean="0"/>
              <a:t>o</a:t>
            </a:r>
            <a:r>
              <a:rPr lang="en-US" smtClean="0"/>
              <a:t> L</a:t>
            </a:r>
            <a:r>
              <a:rPr lang="en-US" baseline="-25000" smtClean="0"/>
              <a:t>2</a:t>
            </a:r>
            <a:r>
              <a:rPr lang="en-US" smtClean="0"/>
              <a:t> </a:t>
            </a:r>
            <a:endParaRPr lang="el-GR" smtClean="0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214313" y="1600200"/>
            <a:ext cx="8686800" cy="4525963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 smtClean="0"/>
              <a:t>Suppose M</a:t>
            </a:r>
            <a:r>
              <a:rPr lang="en-US" baseline="-25000" smtClean="0"/>
              <a:t>1</a:t>
            </a:r>
            <a:r>
              <a:rPr lang="en-US" smtClean="0"/>
              <a:t> and M</a:t>
            </a:r>
            <a:r>
              <a:rPr lang="en-US" baseline="-25000" smtClean="0"/>
              <a:t>2</a:t>
            </a:r>
            <a:r>
              <a:rPr lang="en-US" smtClean="0"/>
              <a:t> are shown in the first figure. Add </a:t>
            </a:r>
            <a:r>
              <a:rPr lang="el-GR" smtClean="0"/>
              <a:t>ε-</a:t>
            </a:r>
            <a:r>
              <a:rPr lang="en-US" smtClean="0"/>
              <a:t>moves from the accept states of M</a:t>
            </a:r>
            <a:r>
              <a:rPr lang="en-US" baseline="-25000" smtClean="0"/>
              <a:t>1</a:t>
            </a:r>
            <a:r>
              <a:rPr lang="en-US" smtClean="0"/>
              <a:t> to the start state of M</a:t>
            </a:r>
            <a:r>
              <a:rPr lang="en-US" baseline="-25000" smtClean="0"/>
              <a:t>2</a:t>
            </a:r>
            <a:r>
              <a:rPr lang="en-US" smtClean="0"/>
              <a:t> and make them non-accepting</a:t>
            </a:r>
            <a:endParaRPr lang="el-GR" smtClean="0"/>
          </a:p>
        </p:txBody>
      </p:sp>
      <p:sp>
        <p:nvSpPr>
          <p:cNvPr id="8" name="Oval 7"/>
          <p:cNvSpPr/>
          <p:nvPr/>
        </p:nvSpPr>
        <p:spPr>
          <a:xfrm>
            <a:off x="1500188" y="5367338"/>
            <a:ext cx="633412" cy="633412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l-GR" dirty="0"/>
          </a:p>
        </p:txBody>
      </p:sp>
      <p:sp>
        <p:nvSpPr>
          <p:cNvPr id="6" name="Oval 5"/>
          <p:cNvSpPr/>
          <p:nvPr/>
        </p:nvSpPr>
        <p:spPr>
          <a:xfrm>
            <a:off x="1571625" y="5438775"/>
            <a:ext cx="500063" cy="500063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l-GR" dirty="0"/>
          </a:p>
        </p:txBody>
      </p:sp>
      <p:sp>
        <p:nvSpPr>
          <p:cNvPr id="7" name="Oval 6"/>
          <p:cNvSpPr/>
          <p:nvPr/>
        </p:nvSpPr>
        <p:spPr>
          <a:xfrm>
            <a:off x="500063" y="4000500"/>
            <a:ext cx="500062" cy="500063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l-GR" dirty="0"/>
          </a:p>
        </p:txBody>
      </p:sp>
      <p:sp>
        <p:nvSpPr>
          <p:cNvPr id="9" name="Oval 8"/>
          <p:cNvSpPr/>
          <p:nvPr/>
        </p:nvSpPr>
        <p:spPr>
          <a:xfrm>
            <a:off x="500063" y="5653088"/>
            <a:ext cx="500062" cy="500062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l-GR" dirty="0"/>
          </a:p>
        </p:txBody>
      </p:sp>
      <p:sp>
        <p:nvSpPr>
          <p:cNvPr id="10" name="Oval 9"/>
          <p:cNvSpPr/>
          <p:nvPr/>
        </p:nvSpPr>
        <p:spPr>
          <a:xfrm>
            <a:off x="1928813" y="6081713"/>
            <a:ext cx="500062" cy="500062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l-GR" dirty="0"/>
          </a:p>
        </p:txBody>
      </p:sp>
      <p:sp>
        <p:nvSpPr>
          <p:cNvPr id="11" name="Oval 10"/>
          <p:cNvSpPr/>
          <p:nvPr/>
        </p:nvSpPr>
        <p:spPr>
          <a:xfrm>
            <a:off x="2286000" y="5438775"/>
            <a:ext cx="500063" cy="500063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l-GR" dirty="0"/>
          </a:p>
        </p:txBody>
      </p:sp>
      <p:sp>
        <p:nvSpPr>
          <p:cNvPr id="12" name="Oval 11"/>
          <p:cNvSpPr/>
          <p:nvPr/>
        </p:nvSpPr>
        <p:spPr>
          <a:xfrm>
            <a:off x="2714625" y="6224588"/>
            <a:ext cx="500063" cy="500062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l-GR" dirty="0"/>
          </a:p>
        </p:txBody>
      </p:sp>
      <p:sp>
        <p:nvSpPr>
          <p:cNvPr id="13" name="Oval 12"/>
          <p:cNvSpPr/>
          <p:nvPr/>
        </p:nvSpPr>
        <p:spPr>
          <a:xfrm>
            <a:off x="2643188" y="6153150"/>
            <a:ext cx="633412" cy="633413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l-GR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142875" y="4214813"/>
            <a:ext cx="285750" cy="1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214313" y="5867400"/>
            <a:ext cx="28575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714500" y="3500438"/>
            <a:ext cx="500063" cy="500062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l-GR" dirty="0"/>
          </a:p>
        </p:txBody>
      </p:sp>
      <p:sp>
        <p:nvSpPr>
          <p:cNvPr id="21" name="Oval 20"/>
          <p:cNvSpPr/>
          <p:nvPr/>
        </p:nvSpPr>
        <p:spPr>
          <a:xfrm>
            <a:off x="2000250" y="4214813"/>
            <a:ext cx="500063" cy="500062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l-GR" dirty="0"/>
          </a:p>
        </p:txBody>
      </p:sp>
      <p:sp>
        <p:nvSpPr>
          <p:cNvPr id="22" name="Oval 21"/>
          <p:cNvSpPr/>
          <p:nvPr/>
        </p:nvSpPr>
        <p:spPr>
          <a:xfrm>
            <a:off x="2724150" y="4429125"/>
            <a:ext cx="500063" cy="500063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l-GR" dirty="0"/>
          </a:p>
        </p:txBody>
      </p:sp>
      <p:sp>
        <p:nvSpPr>
          <p:cNvPr id="23" name="Oval 22"/>
          <p:cNvSpPr/>
          <p:nvPr/>
        </p:nvSpPr>
        <p:spPr>
          <a:xfrm>
            <a:off x="2652713" y="4357688"/>
            <a:ext cx="633412" cy="633412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l-GR" dirty="0"/>
          </a:p>
        </p:txBody>
      </p:sp>
      <p:sp>
        <p:nvSpPr>
          <p:cNvPr id="27" name="Oval 26"/>
          <p:cNvSpPr/>
          <p:nvPr/>
        </p:nvSpPr>
        <p:spPr>
          <a:xfrm>
            <a:off x="7010400" y="5367338"/>
            <a:ext cx="633413" cy="633412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l-GR" dirty="0"/>
          </a:p>
        </p:txBody>
      </p:sp>
      <p:sp>
        <p:nvSpPr>
          <p:cNvPr id="28" name="Oval 27"/>
          <p:cNvSpPr/>
          <p:nvPr/>
        </p:nvSpPr>
        <p:spPr>
          <a:xfrm>
            <a:off x="7081838" y="5438775"/>
            <a:ext cx="500062" cy="500063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l-GR" dirty="0"/>
          </a:p>
        </p:txBody>
      </p:sp>
      <p:sp>
        <p:nvSpPr>
          <p:cNvPr id="29" name="Oval 28"/>
          <p:cNvSpPr/>
          <p:nvPr/>
        </p:nvSpPr>
        <p:spPr>
          <a:xfrm>
            <a:off x="4572000" y="4090988"/>
            <a:ext cx="500063" cy="500062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l-GR" dirty="0"/>
          </a:p>
        </p:txBody>
      </p:sp>
      <p:sp>
        <p:nvSpPr>
          <p:cNvPr id="30" name="Oval 29"/>
          <p:cNvSpPr/>
          <p:nvPr/>
        </p:nvSpPr>
        <p:spPr>
          <a:xfrm>
            <a:off x="6010275" y="5653088"/>
            <a:ext cx="500063" cy="500062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l-GR" dirty="0"/>
          </a:p>
        </p:txBody>
      </p:sp>
      <p:sp>
        <p:nvSpPr>
          <p:cNvPr id="31" name="Oval 30"/>
          <p:cNvSpPr/>
          <p:nvPr/>
        </p:nvSpPr>
        <p:spPr>
          <a:xfrm>
            <a:off x="7439025" y="6081713"/>
            <a:ext cx="500063" cy="500062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l-GR" dirty="0"/>
          </a:p>
        </p:txBody>
      </p:sp>
      <p:sp>
        <p:nvSpPr>
          <p:cNvPr id="32" name="Oval 31"/>
          <p:cNvSpPr/>
          <p:nvPr/>
        </p:nvSpPr>
        <p:spPr>
          <a:xfrm>
            <a:off x="7796213" y="5438775"/>
            <a:ext cx="500062" cy="500063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l-GR" dirty="0"/>
          </a:p>
        </p:txBody>
      </p:sp>
      <p:sp>
        <p:nvSpPr>
          <p:cNvPr id="33" name="Oval 32"/>
          <p:cNvSpPr/>
          <p:nvPr/>
        </p:nvSpPr>
        <p:spPr>
          <a:xfrm>
            <a:off x="8224838" y="6224588"/>
            <a:ext cx="500062" cy="500062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l-GR" dirty="0"/>
          </a:p>
        </p:txBody>
      </p:sp>
      <p:sp>
        <p:nvSpPr>
          <p:cNvPr id="34" name="Oval 33"/>
          <p:cNvSpPr/>
          <p:nvPr/>
        </p:nvSpPr>
        <p:spPr>
          <a:xfrm>
            <a:off x="8153400" y="6153150"/>
            <a:ext cx="633413" cy="633413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l-GR" dirty="0"/>
          </a:p>
        </p:txBody>
      </p:sp>
      <p:sp>
        <p:nvSpPr>
          <p:cNvPr id="37" name="Oval 36"/>
          <p:cNvSpPr/>
          <p:nvPr/>
        </p:nvSpPr>
        <p:spPr>
          <a:xfrm>
            <a:off x="5786438" y="3590925"/>
            <a:ext cx="500062" cy="500063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l-GR" dirty="0"/>
          </a:p>
        </p:txBody>
      </p:sp>
      <p:sp>
        <p:nvSpPr>
          <p:cNvPr id="38" name="Oval 37"/>
          <p:cNvSpPr/>
          <p:nvPr/>
        </p:nvSpPr>
        <p:spPr>
          <a:xfrm>
            <a:off x="6072188" y="4305300"/>
            <a:ext cx="500062" cy="500063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l-GR" dirty="0"/>
          </a:p>
        </p:txBody>
      </p:sp>
      <p:sp>
        <p:nvSpPr>
          <p:cNvPr id="39" name="Oval 38"/>
          <p:cNvSpPr/>
          <p:nvPr/>
        </p:nvSpPr>
        <p:spPr>
          <a:xfrm>
            <a:off x="6796088" y="4519613"/>
            <a:ext cx="500062" cy="500062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l-GR" dirty="0"/>
          </a:p>
        </p:txBody>
      </p:sp>
      <p:sp>
        <p:nvSpPr>
          <p:cNvPr id="49" name="Oval 48"/>
          <p:cNvSpPr/>
          <p:nvPr/>
        </p:nvSpPr>
        <p:spPr>
          <a:xfrm>
            <a:off x="428625" y="3929063"/>
            <a:ext cx="633413" cy="633412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l-GR" dirty="0"/>
          </a:p>
        </p:txBody>
      </p:sp>
      <p:cxnSp>
        <p:nvCxnSpPr>
          <p:cNvPr id="53" name="Straight Arrow Connector 52"/>
          <p:cNvCxnSpPr/>
          <p:nvPr/>
        </p:nvCxnSpPr>
        <p:spPr>
          <a:xfrm rot="5400000" flipH="1" flipV="1">
            <a:off x="1206500" y="3468688"/>
            <a:ext cx="271463" cy="7445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hape 54"/>
          <p:cNvCxnSpPr/>
          <p:nvPr/>
        </p:nvCxnSpPr>
        <p:spPr>
          <a:xfrm>
            <a:off x="2214563" y="3705225"/>
            <a:ext cx="754062" cy="608013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rot="16200000" flipV="1">
            <a:off x="2035968" y="3964782"/>
            <a:ext cx="214313" cy="2857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 flipH="1">
            <a:off x="2219325" y="5684838"/>
            <a:ext cx="338137" cy="6937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rot="16200000" flipV="1">
            <a:off x="2691606" y="5841207"/>
            <a:ext cx="288925" cy="2460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1000125" y="5857875"/>
            <a:ext cx="1001713" cy="2524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29" idx="0"/>
          </p:cNvCxnSpPr>
          <p:nvPr/>
        </p:nvCxnSpPr>
        <p:spPr>
          <a:xfrm rot="5400000" flipH="1" flipV="1">
            <a:off x="5136356" y="3482182"/>
            <a:ext cx="295275" cy="9223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hape 65"/>
          <p:cNvCxnSpPr>
            <a:endCxn id="39" idx="0"/>
          </p:cNvCxnSpPr>
          <p:nvPr/>
        </p:nvCxnSpPr>
        <p:spPr>
          <a:xfrm>
            <a:off x="6318250" y="3795713"/>
            <a:ext cx="728663" cy="723900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rot="16200000" flipV="1">
            <a:off x="6103144" y="4045744"/>
            <a:ext cx="214312" cy="2857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rot="16200000" flipH="1">
            <a:off x="7760494" y="5684044"/>
            <a:ext cx="338137" cy="6953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rot="16200000" flipV="1">
            <a:off x="8232775" y="5840413"/>
            <a:ext cx="288925" cy="2476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6542088" y="5857875"/>
            <a:ext cx="1001712" cy="2524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hape 53"/>
          <p:cNvCxnSpPr>
            <a:stCxn id="29" idx="4"/>
            <a:endCxn id="30" idx="3"/>
          </p:cNvCxnSpPr>
          <p:nvPr/>
        </p:nvCxnSpPr>
        <p:spPr>
          <a:xfrm rot="16200000" flipH="1">
            <a:off x="4708525" y="4705350"/>
            <a:ext cx="1489075" cy="1260475"/>
          </a:xfrm>
          <a:prstGeom prst="curvedConnector3">
            <a:avLst>
              <a:gd name="adj1" fmla="val 120273"/>
            </a:avLst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hape 59"/>
          <p:cNvCxnSpPr>
            <a:stCxn id="39" idx="4"/>
            <a:endCxn id="30" idx="1"/>
          </p:cNvCxnSpPr>
          <p:nvPr/>
        </p:nvCxnSpPr>
        <p:spPr>
          <a:xfrm rot="5400000">
            <a:off x="6211888" y="4891087"/>
            <a:ext cx="706438" cy="963613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638675" y="5211763"/>
            <a:ext cx="290513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l-GR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ε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53175" y="5081588"/>
            <a:ext cx="290513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l-GR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ε</a:t>
            </a:r>
          </a:p>
        </p:txBody>
      </p:sp>
      <p:cxnSp>
        <p:nvCxnSpPr>
          <p:cNvPr id="82" name="Straight Arrow Connector 81"/>
          <p:cNvCxnSpPr/>
          <p:nvPr/>
        </p:nvCxnSpPr>
        <p:spPr>
          <a:xfrm>
            <a:off x="4286250" y="4367213"/>
            <a:ext cx="285750" cy="1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Regular Languages are closed under star operation</a:t>
            </a:r>
            <a:endParaRPr lang="el-GR" dirty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Suppose that L is a regular language. Then there exists DFA M that recognizes L.</a:t>
            </a:r>
          </a:p>
          <a:p>
            <a:pPr eaLnBrk="1" hangingPunct="1"/>
            <a:r>
              <a:rPr lang="en-US" dirty="0" smtClean="0"/>
              <a:t>We construct an NFA</a:t>
            </a:r>
            <a:r>
              <a:rPr lang="el-GR" baseline="-25000" dirty="0" smtClean="0"/>
              <a:t>ε</a:t>
            </a:r>
            <a:r>
              <a:rPr lang="el-GR" dirty="0" smtClean="0"/>
              <a:t> </a:t>
            </a:r>
            <a:r>
              <a:rPr lang="en-US" dirty="0" smtClean="0"/>
              <a:t>that accepts L</a:t>
            </a:r>
            <a:r>
              <a:rPr lang="en-US" baseline="30000" dirty="0" smtClean="0"/>
              <a:t>*</a:t>
            </a:r>
            <a:r>
              <a:rPr lang="en-US" dirty="0" smtClean="0"/>
              <a:t>.</a:t>
            </a:r>
            <a:endParaRPr lang="en-US" baseline="-25000" dirty="0" smtClean="0"/>
          </a:p>
          <a:p>
            <a:pPr eaLnBrk="1" hangingPunct="1"/>
            <a:endParaRPr lang="el-GR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 NFA</a:t>
            </a:r>
            <a:r>
              <a:rPr lang="el-GR" baseline="-25000" smtClean="0"/>
              <a:t>ε</a:t>
            </a:r>
            <a:r>
              <a:rPr lang="en-US" smtClean="0"/>
              <a:t> that</a:t>
            </a:r>
            <a:r>
              <a:rPr lang="el-GR" smtClean="0"/>
              <a:t> </a:t>
            </a:r>
            <a:r>
              <a:rPr lang="en-US" smtClean="0"/>
              <a:t>accepts L</a:t>
            </a:r>
            <a:r>
              <a:rPr lang="en-US" baseline="-25000" smtClean="0"/>
              <a:t>1</a:t>
            </a:r>
            <a:r>
              <a:rPr lang="en-US" smtClean="0"/>
              <a:t> </a:t>
            </a:r>
            <a:r>
              <a:rPr lang="en-US" sz="3000" smtClean="0"/>
              <a:t>o</a:t>
            </a:r>
            <a:r>
              <a:rPr lang="en-US" smtClean="0"/>
              <a:t> L</a:t>
            </a:r>
            <a:r>
              <a:rPr lang="en-US" baseline="-25000" smtClean="0"/>
              <a:t>2</a:t>
            </a:r>
            <a:r>
              <a:rPr lang="en-US" smtClean="0"/>
              <a:t> </a:t>
            </a:r>
            <a:endParaRPr lang="el-GR" smtClean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214313" y="1600200"/>
            <a:ext cx="8686800" cy="4525963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 dirty="0" smtClean="0"/>
              <a:t>Suppose M is shown in the first figure. </a:t>
            </a:r>
          </a:p>
          <a:p>
            <a:pPr eaLnBrk="1" hangingPunct="1">
              <a:buFont typeface="Arial" charset="0"/>
              <a:buNone/>
            </a:pPr>
            <a:r>
              <a:rPr lang="en-US" dirty="0" smtClean="0"/>
              <a:t>	Add a new accept start state. Add </a:t>
            </a:r>
            <a:r>
              <a:rPr lang="el-GR" dirty="0" smtClean="0"/>
              <a:t>ε-</a:t>
            </a:r>
            <a:r>
              <a:rPr lang="en-US" dirty="0" smtClean="0"/>
              <a:t>moves from the accept states to the previous start state.</a:t>
            </a:r>
            <a:endParaRPr lang="el-GR" dirty="0" smtClean="0"/>
          </a:p>
        </p:txBody>
      </p:sp>
      <p:grpSp>
        <p:nvGrpSpPr>
          <p:cNvPr id="2" name="Group 96"/>
          <p:cNvGrpSpPr>
            <a:grpSpLocks/>
          </p:cNvGrpSpPr>
          <p:nvPr/>
        </p:nvGrpSpPr>
        <p:grpSpPr bwMode="auto">
          <a:xfrm>
            <a:off x="285750" y="4000500"/>
            <a:ext cx="8429625" cy="2084388"/>
            <a:chOff x="357158" y="3286124"/>
            <a:chExt cx="8429684" cy="2083844"/>
          </a:xfrm>
        </p:grpSpPr>
        <p:sp>
          <p:nvSpPr>
            <p:cNvPr id="7" name="Oval 6"/>
            <p:cNvSpPr/>
            <p:nvPr/>
          </p:nvSpPr>
          <p:spPr>
            <a:xfrm>
              <a:off x="714349" y="4295510"/>
              <a:ext cx="500065" cy="499932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357158" y="4509768"/>
              <a:ext cx="285752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/>
            <p:cNvSpPr/>
            <p:nvPr/>
          </p:nvSpPr>
          <p:spPr>
            <a:xfrm>
              <a:off x="1928794" y="3795579"/>
              <a:ext cx="500067" cy="499931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2214546" y="4785920"/>
              <a:ext cx="500067" cy="499931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22" name="Oval 21"/>
            <p:cNvSpPr/>
            <p:nvPr/>
          </p:nvSpPr>
          <p:spPr>
            <a:xfrm>
              <a:off x="2938451" y="4724024"/>
              <a:ext cx="500067" cy="499932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23" name="Oval 22"/>
            <p:cNvSpPr/>
            <p:nvPr/>
          </p:nvSpPr>
          <p:spPr>
            <a:xfrm>
              <a:off x="2867014" y="4652605"/>
              <a:ext cx="633416" cy="633247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27" name="Oval 26"/>
            <p:cNvSpPr/>
            <p:nvPr/>
          </p:nvSpPr>
          <p:spPr>
            <a:xfrm>
              <a:off x="4857753" y="4214570"/>
              <a:ext cx="633416" cy="633247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29" name="Oval 28"/>
            <p:cNvSpPr/>
            <p:nvPr/>
          </p:nvSpPr>
          <p:spPr>
            <a:xfrm>
              <a:off x="6000761" y="4303446"/>
              <a:ext cx="500065" cy="499931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30" name="Oval 29"/>
            <p:cNvSpPr/>
            <p:nvPr/>
          </p:nvSpPr>
          <p:spPr>
            <a:xfrm>
              <a:off x="4929190" y="4285988"/>
              <a:ext cx="500067" cy="499932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37" name="Oval 36"/>
            <p:cNvSpPr/>
            <p:nvPr/>
          </p:nvSpPr>
          <p:spPr>
            <a:xfrm>
              <a:off x="7215206" y="3803514"/>
              <a:ext cx="500067" cy="499932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39" name="Oval 38"/>
            <p:cNvSpPr/>
            <p:nvPr/>
          </p:nvSpPr>
          <p:spPr>
            <a:xfrm>
              <a:off x="8224863" y="4731960"/>
              <a:ext cx="500067" cy="499931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cxnSp>
          <p:nvCxnSpPr>
            <p:cNvPr id="53" name="Straight Arrow Connector 52"/>
            <p:cNvCxnSpPr>
              <a:stCxn id="7" idx="7"/>
            </p:cNvCxnSpPr>
            <p:nvPr/>
          </p:nvCxnSpPr>
          <p:spPr>
            <a:xfrm rot="5400000" flipH="1" flipV="1">
              <a:off x="1350989" y="3790712"/>
              <a:ext cx="368204" cy="78740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hape 54"/>
            <p:cNvCxnSpPr/>
            <p:nvPr/>
          </p:nvCxnSpPr>
          <p:spPr>
            <a:xfrm>
              <a:off x="2428861" y="4000313"/>
              <a:ext cx="754067" cy="607854"/>
            </a:xfrm>
            <a:prstGeom prst="curved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86" idx="0"/>
            </p:cNvCxnSpPr>
            <p:nvPr/>
          </p:nvCxnSpPr>
          <p:spPr>
            <a:xfrm rot="16200000" flipV="1">
              <a:off x="2127290" y="4382767"/>
              <a:ext cx="428513" cy="25400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29" idx="0"/>
            </p:cNvCxnSpPr>
            <p:nvPr/>
          </p:nvCxnSpPr>
          <p:spPr>
            <a:xfrm rot="5400000" flipH="1" flipV="1">
              <a:off x="6561192" y="3690708"/>
              <a:ext cx="303134" cy="92234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hape 65"/>
            <p:cNvCxnSpPr>
              <a:endCxn id="63" idx="0"/>
            </p:cNvCxnSpPr>
            <p:nvPr/>
          </p:nvCxnSpPr>
          <p:spPr>
            <a:xfrm>
              <a:off x="7747023" y="4008248"/>
              <a:ext cx="722317" cy="642769"/>
            </a:xfrm>
            <a:prstGeom prst="curved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27" idx="6"/>
              <a:endCxn id="29" idx="2"/>
            </p:cNvCxnSpPr>
            <p:nvPr/>
          </p:nvCxnSpPr>
          <p:spPr>
            <a:xfrm>
              <a:off x="5491169" y="4531987"/>
              <a:ext cx="509592" cy="22219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hape 53"/>
            <p:cNvCxnSpPr>
              <a:endCxn id="29" idx="4"/>
            </p:cNvCxnSpPr>
            <p:nvPr/>
          </p:nvCxnSpPr>
          <p:spPr>
            <a:xfrm rot="10800000">
              <a:off x="6251587" y="4803378"/>
              <a:ext cx="1177933" cy="339636"/>
            </a:xfrm>
            <a:prstGeom prst="curvedConnector2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hape 59"/>
            <p:cNvCxnSpPr>
              <a:stCxn id="63" idx="6"/>
              <a:endCxn id="29" idx="0"/>
            </p:cNvCxnSpPr>
            <p:nvPr/>
          </p:nvCxnSpPr>
          <p:spPr>
            <a:xfrm flipH="1" flipV="1">
              <a:off x="6251587" y="4303446"/>
              <a:ext cx="2535255" cy="664988"/>
            </a:xfrm>
            <a:prstGeom prst="curvedConnector4">
              <a:avLst>
                <a:gd name="adj1" fmla="val -9014"/>
                <a:gd name="adj2" fmla="val 216544"/>
              </a:avLst>
            </a:prstGeom>
            <a:ln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6710377" y="5000177"/>
              <a:ext cx="290515" cy="36979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l-GR" dirty="0">
                  <a:solidFill>
                    <a:schemeClr val="accent2">
                      <a:lumMod val="75000"/>
                    </a:schemeClr>
                  </a:solidFill>
                  <a:latin typeface="+mn-lt"/>
                </a:rPr>
                <a:t>ε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000893" y="3286124"/>
              <a:ext cx="290514" cy="36979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l-GR" dirty="0">
                  <a:solidFill>
                    <a:schemeClr val="accent2">
                      <a:lumMod val="75000"/>
                    </a:schemeClr>
                  </a:solidFill>
                  <a:latin typeface="+mn-lt"/>
                </a:rPr>
                <a:t>ε</a:t>
              </a:r>
            </a:p>
          </p:txBody>
        </p:sp>
        <p:cxnSp>
          <p:nvCxnSpPr>
            <p:cNvPr id="82" name="Straight Arrow Connector 81"/>
            <p:cNvCxnSpPr/>
            <p:nvPr/>
          </p:nvCxnSpPr>
          <p:spPr>
            <a:xfrm>
              <a:off x="4572001" y="4500245"/>
              <a:ext cx="285752" cy="1587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/>
            <p:cNvSpPr/>
            <p:nvPr/>
          </p:nvSpPr>
          <p:spPr>
            <a:xfrm>
              <a:off x="8153426" y="4651018"/>
              <a:ext cx="633416" cy="633248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5500694" y="4214570"/>
              <a:ext cx="290515" cy="36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l-GR" dirty="0">
                  <a:solidFill>
                    <a:schemeClr val="accent2">
                      <a:lumMod val="75000"/>
                    </a:schemeClr>
                  </a:solidFill>
                  <a:latin typeface="+mn-lt"/>
                </a:rPr>
                <a:t>ε</a:t>
              </a:r>
            </a:p>
          </p:txBody>
        </p:sp>
        <p:sp>
          <p:nvSpPr>
            <p:cNvPr id="86" name="Oval 85"/>
            <p:cNvSpPr/>
            <p:nvPr/>
          </p:nvSpPr>
          <p:spPr>
            <a:xfrm>
              <a:off x="2152634" y="4724024"/>
              <a:ext cx="633416" cy="633248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l-GR" dirty="0"/>
            </a:p>
          </p:txBody>
        </p:sp>
        <p:grpSp>
          <p:nvGrpSpPr>
            <p:cNvPr id="3" name="Group 90"/>
            <p:cNvGrpSpPr>
              <a:grpSpLocks/>
            </p:cNvGrpSpPr>
            <p:nvPr/>
          </p:nvGrpSpPr>
          <p:grpSpPr bwMode="auto">
            <a:xfrm>
              <a:off x="7429520" y="4295780"/>
              <a:ext cx="633418" cy="1062046"/>
              <a:chOff x="6867540" y="4448180"/>
              <a:chExt cx="633418" cy="1062046"/>
            </a:xfrm>
          </p:grpSpPr>
          <p:sp>
            <p:nvSpPr>
              <p:cNvPr id="88" name="Oval 87"/>
              <p:cNvSpPr/>
              <p:nvPr/>
            </p:nvSpPr>
            <p:spPr>
              <a:xfrm>
                <a:off x="6929452" y="4938320"/>
                <a:ext cx="500066" cy="499932"/>
              </a:xfrm>
              <a:prstGeom prst="ellipse">
                <a:avLst/>
              </a:prstGeom>
              <a:solidFill>
                <a:schemeClr val="accent1">
                  <a:alpha val="1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l-GR" dirty="0"/>
              </a:p>
            </p:txBody>
          </p:sp>
          <p:cxnSp>
            <p:nvCxnSpPr>
              <p:cNvPr id="89" name="Straight Arrow Connector 88"/>
              <p:cNvCxnSpPr>
                <a:stCxn id="90" idx="0"/>
              </p:cNvCxnSpPr>
              <p:nvPr/>
            </p:nvCxnSpPr>
            <p:spPr>
              <a:xfrm rot="16200000" flipV="1">
                <a:off x="6842990" y="4534372"/>
                <a:ext cx="428513" cy="25559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/>
              <p:cNvSpPr/>
              <p:nvPr/>
            </p:nvSpPr>
            <p:spPr>
              <a:xfrm>
                <a:off x="6867540" y="4876423"/>
                <a:ext cx="633416" cy="633248"/>
              </a:xfrm>
              <a:prstGeom prst="ellipse">
                <a:avLst/>
              </a:prstGeom>
              <a:solidFill>
                <a:schemeClr val="accent1">
                  <a:alpha val="1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l-GR" dirty="0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</Words>
  <Application>Microsoft Office PowerPoint</Application>
  <PresentationFormat>On-screen Show (4:3)</PresentationFormat>
  <Paragraphs>37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Regular Languages are closed under the regular operations</vt:lpstr>
      <vt:lpstr>Regular Languages</vt:lpstr>
      <vt:lpstr>Regular Operations</vt:lpstr>
      <vt:lpstr>Regular Languages are closed under the Regular Operations</vt:lpstr>
      <vt:lpstr>Regular Languages are closed under union.</vt:lpstr>
      <vt:lpstr>An NFAε that accepts L1 U L2 </vt:lpstr>
      <vt:lpstr>Regular Languages are closed under concatenation</vt:lpstr>
      <vt:lpstr>An NFAε that accepts L1 o L2 </vt:lpstr>
      <vt:lpstr>Regular Languages are closed under star operation</vt:lpstr>
      <vt:lpstr>An NFAε that accepts L1 o L2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Regular Languages are closed under the regular operations</dc:title>
  <dc:creator/>
  <cp:lastModifiedBy>Valia</cp:lastModifiedBy>
  <cp:revision>1</cp:revision>
  <dcterms:created xsi:type="dcterms:W3CDTF">2006-08-16T00:00:00Z</dcterms:created>
  <dcterms:modified xsi:type="dcterms:W3CDTF">2010-02-20T22:56:15Z</dcterms:modified>
</cp:coreProperties>
</file>